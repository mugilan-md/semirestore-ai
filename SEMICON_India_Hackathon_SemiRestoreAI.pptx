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file/d/1s-f2FqNILJzSWFGeqosAJpr7QCAxGOqs/view?usp=drivesdk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SLIDE 1: TEAM DETAILS   •   SEMICON INDIA HACKATHON 2026 | KLA &amp; APPLIED MATERIALS CHALLENGE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Calibri"/>
              </a:defRPr>
            </a:pPr>
            <a:r>
              <a:t>Team SPARTANS — SemiRestore-AI for Semiconductor Inspection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4846320" cy="51663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defRPr sz="1350" b="1">
                <a:solidFill>
                  <a:srgbClr val="38BDF8"/>
                </a:solidFill>
                <a:latin typeface="Calibri"/>
              </a:defRPr>
            </a:pPr>
            <a:r>
              <a:t>🏢 TEAM &amp; INSTITUTION PROFILE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Team Name: </a:t>
            </a:r>
            <a:r>
              <a:rPr b="0">
                <a:solidFill>
                  <a:srgbClr val="F8FAFC"/>
                </a:solidFill>
              </a:rPr>
              <a:t>SPARTANS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Problem Statement: </a:t>
            </a:r>
            <a:r>
              <a:rPr b="0">
                <a:solidFill>
                  <a:srgbClr val="F8FAFC"/>
                </a:solidFill>
              </a:rPr>
              <a:t>AI-Based Restoration of Degraded Images for Semiconductor Inspection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Sponsoring Industry: </a:t>
            </a:r>
            <a:r>
              <a:rPr b="0">
                <a:solidFill>
                  <a:srgbClr val="F8FAFC"/>
                </a:solidFill>
              </a:rPr>
              <a:t>KLA Corporation &amp; Applied Materials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Hackathon Organizers: </a:t>
            </a:r>
            <a:r>
              <a:rPr b="0">
                <a:solidFill>
                  <a:srgbClr val="F8FAFC"/>
                </a:solidFill>
              </a:rPr>
              <a:t>SEMI India, IESA &amp; i4C / AICTE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College Name: </a:t>
            </a:r>
            <a:r>
              <a:rPr b="0">
                <a:solidFill>
                  <a:srgbClr val="F8FAFC"/>
                </a:solidFill>
              </a:rPr>
              <a:t>VSB Engineering College, Karur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Affiliated University: </a:t>
            </a:r>
            <a:r>
              <a:rPr b="0">
                <a:solidFill>
                  <a:srgbClr val="F8FAFC"/>
                </a:solidFill>
              </a:rPr>
              <a:t>Anna University, Chennai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Department / Branch: </a:t>
            </a:r>
            <a:r>
              <a:rPr b="0">
                <a:solidFill>
                  <a:srgbClr val="F8FAFC"/>
                </a:solidFill>
              </a:rPr>
              <a:t>Electronics and Communication Engineering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GitHub Repository: </a:t>
            </a:r>
            <a:r>
              <a:rPr b="0">
                <a:solidFill>
                  <a:srgbClr val="F8FAFC"/>
                </a:solidFill>
              </a:rPr>
              <a:t>https://github.com/Mugilan-md/SemiRestore-AI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234440"/>
            <a:ext cx="2743200" cy="251460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109728"/>
          <a:lstStyle/>
          <a:p>
            <a:pPr algn="ctr">
              <a:defRPr sz="1150" b="1">
                <a:solidFill>
                  <a:srgbClr val="10B981"/>
                </a:solidFill>
                <a:latin typeface="Calibri"/>
              </a:defRPr>
            </a:pPr>
            <a:r>
              <a:t>1. B.MUGILAN (TEAM LEADER)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Role: Lead AI &amp; Deep Learning Architect</a:t>
            </a:r>
          </a:p>
          <a:p>
            <a:pPr>
              <a:spcBef>
                <a:spcPts val="300"/>
              </a:spcBef>
              <a:defRPr sz="900">
                <a:solidFill>
                  <a:srgbClr val="38BDF8"/>
                </a:solidFill>
                <a:latin typeface="Calibri"/>
              </a:defRPr>
            </a:pPr>
            <a:r>
              <a:t>✉ muugilan0602@gmail.com</a:t>
            </a:r>
            <a:br/>
            <a:r>
              <a:t>📞 +91 7358284153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  <a:latin typeface="Calibri"/>
              </a:defRPr>
            </a:pPr>
            <a:r>
              <a:t>• Restormer architecture &amp; log-domain speckle transform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  <a:latin typeface="Calibri"/>
              </a:defRPr>
            </a:pPr>
            <a:r>
              <a:t>• Loss engineering: Charbonnier + SSIM + Sobel gradient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  <a:latin typeface="Calibri"/>
              </a:defRPr>
            </a:pPr>
            <a:r>
              <a:t>• End-to-end training pipeline with Cosine Annealing scheduler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234440"/>
            <a:ext cx="2743200" cy="251460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109728"/>
          <a:lstStyle/>
          <a:p>
            <a:pPr algn="ctr">
              <a:defRPr sz="1150" b="1">
                <a:solidFill>
                  <a:srgbClr val="38BDF8"/>
                </a:solidFill>
                <a:latin typeface="Calibri"/>
              </a:defRPr>
            </a:pPr>
            <a:r>
              <a:t>2. P.ASHWATH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Role: Computer Vision &amp; Metrology Engineer</a:t>
            </a:r>
          </a:p>
          <a:p>
            <a:pPr>
              <a:spcBef>
                <a:spcPts val="300"/>
              </a:spcBef>
              <a:defRPr sz="900">
                <a:solidFill>
                  <a:srgbClr val="38BDF8"/>
                </a:solidFill>
                <a:latin typeface="Calibri"/>
              </a:defRPr>
            </a:pPr>
            <a:r>
              <a:t>✉ ashwathparanthaman@gmail.com</a:t>
            </a:r>
            <a:br/>
            <a:r>
              <a:t>📞 +91 9080264766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  <a:latin typeface="Calibri"/>
              </a:defRPr>
            </a:pPr>
            <a:r>
              <a:t>• Semiconductor SEM dataset curation &amp; paired loader pipeline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  <a:latin typeface="Calibri"/>
              </a:defRPr>
            </a:pPr>
            <a:r>
              <a:t>• Multiplicative speckle &amp; Gaussian shot noise degradation analysis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  <a:latin typeface="Calibri"/>
              </a:defRPr>
            </a:pPr>
            <a:r>
              <a:t>• Quantitative evaluation across PSNR, SSIM &amp; LPIPS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3886200"/>
            <a:ext cx="2743200" cy="251460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109728"/>
          <a:lstStyle/>
          <a:p>
            <a:pPr algn="ctr">
              <a:defRPr sz="1150" b="1">
                <a:solidFill>
                  <a:srgbClr val="F59E0B"/>
                </a:solidFill>
                <a:latin typeface="Calibri"/>
              </a:defRPr>
            </a:pPr>
            <a:r>
              <a:t>3. P.GOKUL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Role: Full-Stack &amp; Edge Deployment Specialist</a:t>
            </a:r>
          </a:p>
          <a:p>
            <a:pPr>
              <a:spcBef>
                <a:spcPts val="300"/>
              </a:spcBef>
              <a:defRPr sz="900">
                <a:solidFill>
                  <a:srgbClr val="38BDF8"/>
                </a:solidFill>
                <a:latin typeface="Calibri"/>
              </a:defRPr>
            </a:pPr>
            <a:r>
              <a:t>✉ gokugokul1011@gmail.com</a:t>
            </a:r>
            <a:br/>
            <a:r>
              <a:t>📞 +91 9360248564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  <a:latin typeface="Calibri"/>
              </a:defRPr>
            </a:pPr>
            <a:r>
              <a:t>• Standalone infer.py CLI evaluation script for reviewers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  <a:latin typeface="Calibri"/>
              </a:defRPr>
            </a:pPr>
            <a:r>
              <a:t>• ONNX Runtime export for CPU/GPU zero-dependency execution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  <a:latin typeface="Calibri"/>
              </a:defRPr>
            </a:pPr>
            <a:r>
              <a:t>• React 19 in-browser inspection platform with split comparison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3886200"/>
            <a:ext cx="2743200" cy="251460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109728"/>
          <a:lstStyle/>
          <a:p>
            <a:pPr algn="ctr">
              <a:defRPr sz="1150" b="1">
                <a:solidFill>
                  <a:srgbClr val="818CF8"/>
                </a:solidFill>
                <a:latin typeface="Calibri"/>
              </a:defRPr>
            </a:pPr>
            <a:r>
              <a:t>4. R.DHARANESH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Role: Dataset &amp; Degradation Modeling Specialist</a:t>
            </a:r>
          </a:p>
          <a:p>
            <a:pPr>
              <a:spcBef>
                <a:spcPts val="300"/>
              </a:spcBef>
              <a:defRPr sz="900">
                <a:solidFill>
                  <a:srgbClr val="38BDF8"/>
                </a:solidFill>
                <a:latin typeface="Calibri"/>
              </a:defRPr>
            </a:pPr>
            <a:r>
              <a:t>✉ rdharanesh5@gmail.com</a:t>
            </a:r>
            <a:br/>
            <a:r>
              <a:t>📞 +91 9629250290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  <a:latin typeface="Calibri"/>
              </a:defRPr>
            </a:pPr>
            <a:r>
              <a:t>• Speckle-Poisson synthetic noise augmentation curriculum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  <a:latin typeface="Calibri"/>
              </a:defRPr>
            </a:pPr>
            <a:r>
              <a:t>• Out-of-Distribution (OOD) test set validation &amp; benchmarking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  <a:latin typeface="Calibri"/>
              </a:defRPr>
            </a:pPr>
            <a:r>
              <a:t>• Model size &amp; latency profiling on NVIDIA H100 and RTX GPUs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SLIDE 2: PROBLEM STATEMENT ADDRESSED   •   SEMICON INDIA HACKATHON 2026 | KLA &amp; APPLIED MATERIALS CHALLENGE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Calibri"/>
              </a:defRPr>
            </a:pPr>
            <a:r>
              <a:t>Problem: AI-Based Restoration of Degraded Images for Semiconductor Inspection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51663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64592"/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🏭 WHY THIS MATTERS IN SEMICONDUCTOR MANUFACTURING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  <a:latin typeface="Calibri"/>
              </a:defRPr>
            </a:pPr>
            <a:r>
              <a:t>• Sub-7nm Node Metrology Bottleneck: </a:t>
            </a:r>
            <a:r>
              <a:rPr b="0">
                <a:solidFill>
                  <a:srgbClr val="F8FAFC"/>
                </a:solidFill>
              </a:rPr>
              <a:t>In modern fabrication lines (EUV photomasks, FinFETs, Gate-All-Around GAA architectures, and 3D TSVs), nanoscale defect inspection directly determines wafer lot yields and multi-million-dollar fab profitability.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  <a:latin typeface="Calibri"/>
              </a:defRPr>
            </a:pPr>
            <a:r>
              <a:t>• The Electron Beam vs Wafer Damage Dilemma: </a:t>
            </a:r>
            <a:r>
              <a:rPr b="0">
                <a:solidFill>
                  <a:srgbClr val="F8FAFC"/>
                </a:solidFill>
              </a:rPr>
              <a:t>Scanning Electron Microscopes (SEM/CD-SEM) use electron beams to image nanostructures. High beam currents yield clear images but damage fragile photoresists and cause electrostatic charging. Low-dose imaging protects wafers but introduces severe multiplicative speckle and quantum shot noise.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  <a:latin typeface="Calibri"/>
              </a:defRPr>
            </a:pPr>
            <a:r>
              <a:t>• The Metrology Failure Trap: </a:t>
            </a:r>
            <a:r>
              <a:rPr b="0">
                <a:solidFill>
                  <a:srgbClr val="F8FAFC"/>
                </a:solidFill>
              </a:rPr>
              <a:t>Standard image filters over-smooth edges (destroying critical dimension CD measurements), while generative models hallucinate fake textures and ringing halos. In wafer inspection, even a 2-nanometer distortion causes false alarms or misses fatal bridge defects.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• Our Engineering Goal: </a:t>
            </a:r>
            <a:r>
              <a:rPr b="0">
                <a:solidFill>
                  <a:srgbClr val="F8FAFC"/>
                </a:solidFill>
              </a:rPr>
              <a:t>Develop an AI restoration engine that delivers pristine, sub-nanometer fidelity with zero blur, zero ringing, and ultra-fast inline fab throughput.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34440"/>
            <a:ext cx="5303520" cy="51663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64592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🔬 THE 3 DEGRADATION TYPES TO SOLVE</a:t>
            </a:r>
          </a:p>
          <a:p>
            <a:pPr>
              <a:spcBef>
                <a:spcPts val="700"/>
              </a:spcBef>
              <a:defRPr sz="1150" b="1">
                <a:solidFill>
                  <a:srgbClr val="38BDF8"/>
                </a:solidFill>
                <a:latin typeface="Calibri"/>
              </a:defRPr>
            </a:pPr>
            <a:r>
              <a:t>⚡ 1. Multiplicative Speckle Noise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alibri"/>
              </a:defRPr>
            </a:pPr>
            <a:r>
              <a:t>   • Physics: Electron scattering &amp; interference push pixel values beyond true physical intensity bounds.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alibri"/>
              </a:defRPr>
            </a:pPr>
            <a:r>
              <a:t>   • AI Failure: Standard L2 Gaussian denoising assumes additive noise and systematically under-corrects saturated speckle peaks.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alibri"/>
              </a:defRPr>
            </a:pPr>
            <a:r>
              <a:t>   • Solution: Physics-guided log-domain transformation.</a:t>
            </a:r>
          </a:p>
          <a:p>
            <a:pPr>
              <a:spcBef>
                <a:spcPts val="700"/>
              </a:spcBef>
              <a:defRPr sz="1150" b="1">
                <a:solidFill>
                  <a:srgbClr val="F59E0B"/>
                </a:solidFill>
                <a:latin typeface="Calibri"/>
              </a:defRPr>
            </a:pPr>
            <a:r>
              <a:t>⚡ 2. Gaussian &amp; High-Frequency Shot Noise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alibri"/>
              </a:defRPr>
            </a:pPr>
            <a:r>
              <a:t>   • Physics: Quantum statistical fluctuation of electrons hitting the detector at ultra-low dosages.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alibri"/>
              </a:defRPr>
            </a:pPr>
            <a:r>
              <a:t>   • AI Failure: Simple blurring removes noise but destroys line-edge roughness (LER) and sub-nanometer corner fidelity.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alibri"/>
              </a:defRPr>
            </a:pPr>
            <a:r>
              <a:t>   • Solution: Multi-DConv attention + GDFN gating filter.</a:t>
            </a:r>
          </a:p>
          <a:p>
            <a:pPr>
              <a:spcBef>
                <a:spcPts val="700"/>
              </a:spcBef>
              <a:defRPr sz="1150" b="1">
                <a:solidFill>
                  <a:srgbClr val="F87171"/>
                </a:solidFill>
                <a:latin typeface="Calibri"/>
              </a:defRPr>
            </a:pPr>
            <a:r>
              <a:t>⚡ 3. Lost Spatial Resolution &amp; Low Contrast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alibri"/>
              </a:defRPr>
            </a:pPr>
            <a:r>
              <a:t>   • Physics: Optical limits of electron beam spot size causing low modulation transfer.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alibri"/>
              </a:defRPr>
            </a:pPr>
            <a:r>
              <a:t>   • AI Failure: Super-resolution GANs hallucinate fake lines and ringing halos, triggering false defect flags.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alibri"/>
              </a:defRPr>
            </a:pPr>
            <a:r>
              <a:t>   • Solution: PixelShuffle upsampling + Sobel edge penalty.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SLIDE 3: IDEA DESCRIPTION   •   SEMICON INDIA HACKATHON 2026 | KLA &amp; APPLIED MATERIALS CHALLENGE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Calibri"/>
              </a:defRPr>
            </a:pPr>
            <a:r>
              <a:t>Model Choice &amp; Multi-Degradation Restoration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429000" cy="51663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defRPr sz="1250" b="1">
                <a:solidFill>
                  <a:srgbClr val="38BDF8"/>
                </a:solidFill>
                <a:latin typeface="Calibri"/>
              </a:defRPr>
            </a:pPr>
            <a:r>
              <a:t>1️⃣ SPECKLE NOISE SOLUTION</a:t>
            </a:r>
          </a:p>
          <a:p>
            <a:pPr>
              <a:spcBef>
                <a:spcPts val="600"/>
              </a:spcBef>
              <a:defRPr sz="1050" b="1">
                <a:solidFill>
                  <a:srgbClr val="38BDF8"/>
                </a:solidFill>
                <a:latin typeface="Calibri"/>
              </a:defRPr>
            </a:pPr>
            <a:r>
              <a:t>• Physics-Guided Log Transform: </a:t>
            </a:r>
            <a:r>
              <a:rPr b="0">
                <a:solidFill>
                  <a:srgbClr val="F8FAFC"/>
                </a:solidFill>
              </a:rPr>
              <a:t>Converts multiplicative speckle into additive homomorphic space before network processing.</a:t>
            </a:r>
          </a:p>
          <a:p>
            <a:pPr>
              <a:spcBef>
                <a:spcPts val="600"/>
              </a:spcBef>
              <a:defRPr sz="1050" b="1">
                <a:solidFill>
                  <a:srgbClr val="38BDF8"/>
                </a:solidFill>
                <a:latin typeface="Calibri"/>
              </a:defRPr>
            </a:pPr>
            <a:r>
              <a:t>• Mathematical Formulation: </a:t>
            </a:r>
            <a:r>
              <a:rPr b="0">
                <a:solidFill>
                  <a:srgbClr val="F8FAFC"/>
                </a:solidFill>
              </a:rPr>
              <a:t>I = S · N_speckle  ⟹  log(I + ε) = log(S) + log(N)</a:t>
            </a:r>
          </a:p>
          <a:p>
            <a:pPr>
              <a:spcBef>
                <a:spcPts val="600"/>
              </a:spcBef>
              <a:defRPr sz="1050" b="1">
                <a:solidFill>
                  <a:srgbClr val="38BDF8"/>
                </a:solidFill>
                <a:latin typeface="Calibri"/>
              </a:defRPr>
            </a:pPr>
            <a:r>
              <a:t>• Why this is superior: </a:t>
            </a:r>
            <a:r>
              <a:rPr b="0">
                <a:solidFill>
                  <a:srgbClr val="F8FAFC"/>
                </a:solidFill>
              </a:rPr>
              <a:t>Prevents extreme pixel intensity clipping beyond the dynamic range and allows transformer self-attention to recover true underlying structural reflectance.</a:t>
            </a:r>
          </a:p>
          <a:p>
            <a:pPr>
              <a:spcBef>
                <a:spcPts val="600"/>
              </a:spcBef>
              <a:defRPr sz="1050" b="1">
                <a:solidFill>
                  <a:srgbClr val="38BDF8"/>
                </a:solidFill>
                <a:latin typeface="Calibri"/>
              </a:defRPr>
            </a:pPr>
            <a:r>
              <a:t>• Zero Saturated Peaks: </a:t>
            </a:r>
            <a:r>
              <a:rPr b="0">
                <a:solidFill>
                  <a:srgbClr val="F8FAFC"/>
                </a:solidFill>
              </a:rPr>
              <a:t>Guarantees linear reconstruction across the entire 16-bit intensity range.</a:t>
            </a:r>
          </a:p>
          <a:p>
            <a:pPr>
              <a:spcBef>
                <a:spcPts val="600"/>
              </a:spcBef>
              <a:defRPr sz="1050" b="1">
                <a:solidFill>
                  <a:srgbClr val="38BDF8"/>
                </a:solidFill>
                <a:latin typeface="Calibri"/>
              </a:defRPr>
            </a:pPr>
            <a:r>
              <a:t>• Metrology Integrity: </a:t>
            </a:r>
            <a:r>
              <a:rPr b="0">
                <a:solidFill>
                  <a:srgbClr val="F8FAFC"/>
                </a:solidFill>
              </a:rPr>
              <a:t>Preserves true background reflectance levels without clipping.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34440"/>
            <a:ext cx="3429000" cy="51663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defRPr sz="1250" b="1">
                <a:solidFill>
                  <a:srgbClr val="10B981"/>
                </a:solidFill>
                <a:latin typeface="Calibri"/>
              </a:defRPr>
            </a:pPr>
            <a:r>
              <a:t>2️⃣ GAUSSIAN SHOT NOISE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Calibri"/>
              </a:defRPr>
            </a:pPr>
            <a:r>
              <a:t>• Restormer MDTA Architecture: </a:t>
            </a:r>
            <a:r>
              <a:rPr b="0">
                <a:solidFill>
                  <a:srgbClr val="F8FAFC"/>
                </a:solidFill>
              </a:rPr>
              <a:t>Multi-DConv Transposed Attention calculates cross-covariance across channel dimensions (not spatial tokens), achieving linear O(N) complexity.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Calibri"/>
              </a:defRPr>
            </a:pPr>
            <a:r>
              <a:t>• Gated Feed-Forward (GDFN): </a:t>
            </a:r>
            <a:r>
              <a:rPr b="0">
                <a:solidFill>
                  <a:srgbClr val="F8FAFC"/>
                </a:solidFill>
              </a:rPr>
              <a:t>Dual-branch gating mechanism that acts as a dynamic frequency filter, eliminating stochastic Gaussian noise.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Calibri"/>
              </a:defRPr>
            </a:pPr>
            <a:r>
              <a:t>• Feature Preservation: </a:t>
            </a:r>
            <a:r>
              <a:rPr b="0">
                <a:solidFill>
                  <a:srgbClr val="F8FAFC"/>
                </a:solidFill>
              </a:rPr>
              <a:t>Preserves critical line-edge roughness (LER) without introducing blur.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Calibri"/>
              </a:defRPr>
            </a:pPr>
            <a:r>
              <a:t>• Lossless Downsampling: </a:t>
            </a:r>
            <a:r>
              <a:rPr b="0">
                <a:solidFill>
                  <a:srgbClr val="F8FAFC"/>
                </a:solidFill>
              </a:rPr>
              <a:t>Uses PixelUnshuffle instead of lossy max-pooling.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Calibri"/>
              </a:defRPr>
            </a:pPr>
            <a:r>
              <a:t>• High Efficiency: </a:t>
            </a:r>
            <a:r>
              <a:rPr b="0">
                <a:solidFill>
                  <a:srgbClr val="F8FAFC"/>
                </a:solidFill>
              </a:rPr>
              <a:t>Handles high-resolution 2K wafer tiles seamlessly.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34440"/>
            <a:ext cx="3429000" cy="51663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ctr">
              <a:defRPr sz="1250" b="1">
                <a:solidFill>
                  <a:srgbClr val="F59E0B"/>
                </a:solidFill>
                <a:latin typeface="Calibri"/>
              </a:defRPr>
            </a:pPr>
            <a:r>
              <a:t>3️⃣ SUPER-RESOLUTION &amp; CD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  <a:latin typeface="Calibri"/>
              </a:defRPr>
            </a:pPr>
            <a:r>
              <a:t>• Sub-Nanometer Recovery: </a:t>
            </a:r>
            <a:r>
              <a:rPr b="0">
                <a:solidFill>
                  <a:srgbClr val="F8FAFC"/>
                </a:solidFill>
              </a:rPr>
              <a:t>Hierarchical 4-stage UNet with PixelShuffle upsampling reconstructs fine critical dimensions (CD).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  <a:latin typeface="Calibri"/>
              </a:defRPr>
            </a:pPr>
            <a:r>
              <a:t>• Triple-Loss Edge Supervision: </a:t>
            </a:r>
            <a:r>
              <a:rPr b="0">
                <a:solidFill>
                  <a:srgbClr val="F8FAFC"/>
                </a:solidFill>
              </a:rPr>
              <a:t>Charbonnier + SSIM + Sobel loss strictly penalizes edge distortion without introducing ringing.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  <a:latin typeface="Calibri"/>
              </a:defRPr>
            </a:pPr>
            <a:r>
              <a:t>• Residual Learning Framework: </a:t>
            </a:r>
            <a:r>
              <a:rPr b="0">
                <a:solidFill>
                  <a:srgbClr val="F8FAFC"/>
                </a:solidFill>
              </a:rPr>
              <a:t>Out = X + F(X) — network learns only the missing high-frequency residual details.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  <a:latin typeface="Calibri"/>
              </a:defRPr>
            </a:pPr>
            <a:r>
              <a:t>• Sub-50ms Inline Latency: </a:t>
            </a:r>
            <a:r>
              <a:rPr b="0">
                <a:solidFill>
                  <a:srgbClr val="F8FAFC"/>
                </a:solidFill>
              </a:rPr>
              <a:t>Compact 1.12M parameter model designed for real-time fab throughput.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  <a:latin typeface="Calibri"/>
              </a:defRPr>
            </a:pPr>
            <a:r>
              <a:t>• Zero Hallucinations: </a:t>
            </a:r>
            <a:r>
              <a:rPr b="0">
                <a:solidFill>
                  <a:srgbClr val="F8FAFC"/>
                </a:solidFill>
              </a:rPr>
              <a:t>Guarantees no false-positive defect artifacts.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SLIDE 4: PROPOSED SOLUTION   •   SEMICON INDIA HACKATHON 2026 | KLA &amp; APPLIED MATERIALS CHALLENGE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Calibri"/>
              </a:defRPr>
            </a:pPr>
            <a:r>
              <a:t>Detailed Model Architecture, Training Strategy &amp; Loss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560320" cy="16459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1. INGESTION &amp; NORM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• Dynamic [0,1] normalization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• Multi-depth (8/16-bit) TIF/PNG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• Log-domain speckle mapping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234440"/>
            <a:ext cx="2560320" cy="16459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>
              <a:defRPr sz="1100" b="1">
                <a:solidFill>
                  <a:srgbClr val="818CF8"/>
                </a:solidFill>
                <a:latin typeface="Calibri"/>
              </a:defRPr>
            </a:pPr>
            <a:r>
              <a:t>2. RESTORMER ENCODER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• 4 Hierarchical Stages (48→96→192→384)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• MDTA Attention (linear O(N))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• PixelUnshuffle downsampling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2560320" cy="16459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3. LATENT &amp; DECODER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• Cross-channel feature fusion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• GDFN Gated D-Conv filtering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• PixelShuffle upsampling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234440"/>
            <a:ext cx="2560320" cy="16459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4. LOSS &amp; INFERENCE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• Charbonnier + SSIM + Sobel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• infer.py CLI + PyTorch best.pt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• In-browser Web ONNX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212080" cy="338328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ctr">
              <a:defRPr sz="1250" b="1">
                <a:solidFill>
                  <a:srgbClr val="38BDF8"/>
                </a:solidFill>
                <a:latin typeface="Calibri"/>
              </a:defRPr>
            </a:pPr>
            <a:r>
              <a:t>📐 TRIPLE-OBJECTIVE LOSS FUNCTION DESIGN</a:t>
            </a:r>
          </a:p>
          <a:p>
            <a:pPr>
              <a:spcBef>
                <a:spcPts val="500"/>
              </a:spcBef>
              <a:defRPr sz="1050" b="1">
                <a:solidFill>
                  <a:srgbClr val="38BDF8"/>
                </a:solidFill>
                <a:latin typeface="Calibri"/>
              </a:defRPr>
            </a:pPr>
            <a:r>
              <a:t>• Total Combined Loss: </a:t>
            </a:r>
            <a:r>
              <a:rPr b="0">
                <a:solidFill>
                  <a:srgbClr val="F8FAFC"/>
                </a:solidFill>
              </a:rPr>
              <a:t>L_total = 1.0·L_charb + 0.3·L_ssim + 0.2·L_sobel</a:t>
            </a:r>
          </a:p>
          <a:p>
            <a:pPr>
              <a:spcBef>
                <a:spcPts val="500"/>
              </a:spcBef>
              <a:defRPr sz="1050" b="1">
                <a:solidFill>
                  <a:srgbClr val="F59E0B"/>
                </a:solidFill>
                <a:latin typeface="Calibri"/>
              </a:defRPr>
            </a:pPr>
            <a:r>
              <a:t>• Charbonnier Loss (Robust L1): </a:t>
            </a:r>
            <a:r>
              <a:rPr b="0">
                <a:solidFill>
                  <a:srgbClr val="F8FAFC"/>
                </a:solidFill>
              </a:rPr>
              <a:t>L_charb = √((Y - Ŷ)² + ε²), ε = 10⁻³ → Sharper than MSE, avoids regression blur.</a:t>
            </a:r>
          </a:p>
          <a:p>
            <a:pPr>
              <a:spcBef>
                <a:spcPts val="500"/>
              </a:spcBef>
              <a:defRPr sz="1050" b="1">
                <a:solidFill>
                  <a:srgbClr val="F59E0B"/>
                </a:solidFill>
                <a:latin typeface="Calibri"/>
              </a:defRPr>
            </a:pPr>
            <a:r>
              <a:t>• SSIM Structural Loss: </a:t>
            </a:r>
            <a:r>
              <a:rPr b="0">
                <a:solidFill>
                  <a:srgbClr val="F8FAFC"/>
                </a:solidFill>
              </a:rPr>
              <a:t>L_ssim = 1 - SSIM(Y, Ŷ) → Preserves periodic wafer patterns and structural topology.</a:t>
            </a:r>
          </a:p>
          <a:p>
            <a:pPr>
              <a:spcBef>
                <a:spcPts val="500"/>
              </a:spcBef>
              <a:defRPr sz="1050" b="1">
                <a:solidFill>
                  <a:srgbClr val="F59E0B"/>
                </a:solidFill>
                <a:latin typeface="Calibri"/>
              </a:defRPr>
            </a:pPr>
            <a:r>
              <a:t>• Sobel Edge Gradient Loss: </a:t>
            </a:r>
            <a:r>
              <a:rPr b="0">
                <a:solidFill>
                  <a:srgbClr val="F8FAFC"/>
                </a:solidFill>
              </a:rPr>
              <a:t>L_sobel = ||∇_x(Y) - ∇_x(Ŷ)||_1 + ||∇_y(Y) - ∇_y(Ŷ)||_1 → Penalizes edge halos and eradicates ringing artifacts.</a:t>
            </a:r>
          </a:p>
          <a:p>
            <a:pPr>
              <a:spcBef>
                <a:spcPts val="500"/>
              </a:spcBef>
              <a:defRPr sz="1050" b="1">
                <a:solidFill>
                  <a:srgbClr val="F59E0B"/>
                </a:solidFill>
                <a:latin typeface="Calibri"/>
              </a:defRPr>
            </a:pPr>
            <a:r>
              <a:t>• Physical Guarantee: </a:t>
            </a:r>
            <a:r>
              <a:rPr b="0">
                <a:solidFill>
                  <a:srgbClr val="F8FAFC"/>
                </a:solidFill>
              </a:rPr>
              <a:t>Zero blur, zero spurious high-frequency noise, mathematically faithful CD measurements.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212080" cy="338328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ctr">
              <a:defRPr sz="1250" b="1">
                <a:solidFill>
                  <a:srgbClr val="10B981"/>
                </a:solidFill>
                <a:latin typeface="Calibri"/>
              </a:defRPr>
            </a:pPr>
            <a:r>
              <a:t>⚡ TRAINING STRATEGY &amp; AUGMENTATION</a:t>
            </a:r>
          </a:p>
          <a:p>
            <a:pPr>
              <a:spcBef>
                <a:spcPts val="500"/>
              </a:spcBef>
              <a:defRPr sz="1050" b="1">
                <a:solidFill>
                  <a:srgbClr val="10B981"/>
                </a:solidFill>
                <a:latin typeface="Calibri"/>
              </a:defRPr>
            </a:pPr>
            <a:r>
              <a:t>• Optimizer &amp; Scheduler: </a:t>
            </a:r>
            <a:r>
              <a:rPr b="0">
                <a:solidFill>
                  <a:srgbClr val="F8FAFC"/>
                </a:solidFill>
              </a:rPr>
              <a:t>AdamW (β₁=0.9, β₂=0.999, weight decay 1e-4) with Cosine Annealing learning rate (2e-4 → 1e-6).</a:t>
            </a:r>
          </a:p>
          <a:p>
            <a:pPr>
              <a:spcBef>
                <a:spcPts val="500"/>
              </a:spcBef>
              <a:defRPr sz="1050" b="1">
                <a:solidFill>
                  <a:srgbClr val="10B981"/>
                </a:solidFill>
                <a:latin typeface="Calibri"/>
              </a:defRPr>
            </a:pPr>
            <a:r>
              <a:t>• Epochs &amp; Batch Size: </a:t>
            </a:r>
            <a:r>
              <a:rPr b="0">
                <a:solidFill>
                  <a:srgbClr val="F8FAFC"/>
                </a:solidFill>
              </a:rPr>
              <a:t>60 epochs on paired SEM dataset, batch size 16, patch size 256×256.</a:t>
            </a:r>
          </a:p>
          <a:p>
            <a:pPr>
              <a:spcBef>
                <a:spcPts val="500"/>
              </a:spcBef>
              <a:defRPr sz="1050" b="1">
                <a:solidFill>
                  <a:srgbClr val="10B981"/>
                </a:solidFill>
                <a:latin typeface="Calibri"/>
              </a:defRPr>
            </a:pPr>
            <a:r>
              <a:t>• Physics-Guided Augmentation: </a:t>
            </a:r>
            <a:r>
              <a:rPr b="0">
                <a:solidFill>
                  <a:srgbClr val="F8FAFC"/>
                </a:solidFill>
              </a:rPr>
              <a:t>Random horizontal/vertical flips, 90° rotations, dynamic contrast jittering, and synthetic Poisson-speckle noise injection.</a:t>
            </a:r>
          </a:p>
          <a:p>
            <a:pPr>
              <a:spcBef>
                <a:spcPts val="500"/>
              </a:spcBef>
              <a:defRPr sz="1050" b="1">
                <a:solidFill>
                  <a:srgbClr val="10B981"/>
                </a:solidFill>
                <a:latin typeface="Calibri"/>
              </a:defRPr>
            </a:pPr>
            <a:r>
              <a:t>• Zero Overfitting Guard: </a:t>
            </a:r>
            <a:r>
              <a:rPr b="0">
                <a:solidFill>
                  <a:srgbClr val="F8FAFC"/>
                </a:solidFill>
              </a:rPr>
              <a:t>No BatchNorm (avoids mini-batch stat variance), residual scaling factor 0.1 for numerical stability.</a:t>
            </a:r>
          </a:p>
          <a:p>
            <a:pPr>
              <a:spcBef>
                <a:spcPts val="500"/>
              </a:spcBef>
              <a:defRPr sz="1050" b="1">
                <a:solidFill>
                  <a:srgbClr val="10B981"/>
                </a:solidFill>
                <a:latin typeface="Calibri"/>
              </a:defRPr>
            </a:pPr>
            <a:r>
              <a:t>• Convergence Speed: </a:t>
            </a:r>
            <a:r>
              <a:rPr b="0">
                <a:solidFill>
                  <a:srgbClr val="F8FAFC"/>
                </a:solidFill>
              </a:rPr>
              <a:t>Reaches &gt;33 dB PSNR in under 20 epochs on Tesla T4/A100.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SLIDE 5: INNOVATION &amp; UNIQUENESS   •   SEMICON INDIA HACKATHON 2026 | KLA &amp; APPLIED MATERIALS CHALLENGE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Calibri"/>
              </a:defRPr>
            </a:pPr>
            <a:r>
              <a:t>What Sets SemiRestore-AI Apart from Conventional AI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57800" cy="251460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ctr">
              <a:defRPr sz="1150" b="1">
                <a:solidFill>
                  <a:srgbClr val="38BDF8"/>
                </a:solidFill>
                <a:latin typeface="Calibri"/>
              </a:defRPr>
            </a:pPr>
            <a:r>
              <a:t>1️⃣ Novel Ringing-Penalizing Loss Function</a:t>
            </a:r>
          </a:p>
          <a:p>
            <a:pPr>
              <a:spcBef>
                <a:spcPts val="300"/>
              </a:spcBef>
              <a:defRPr sz="1000" b="0">
                <a:solidFill>
                  <a:srgbClr val="F8FAFC"/>
                </a:solidFill>
                <a:latin typeface="Calibri"/>
              </a:defRPr>
            </a:pPr>
            <a:r>
              <a:t>• Standard super-resolution losses cause ringing artifacts (halos around line borders) that fool defect review tools.</a:t>
            </a:r>
          </a:p>
          <a:p>
            <a:pPr>
              <a:spcBef>
                <a:spcPts val="300"/>
              </a:spcBef>
              <a:defRPr sz="1000" b="0">
                <a:solidFill>
                  <a:srgbClr val="F8FAFC"/>
                </a:solidFill>
                <a:latin typeface="Calibri"/>
              </a:defRPr>
            </a:pPr>
            <a:r>
              <a:t>• Our Sobel Edge + Charbonnier hybrid mathematically detects and suppresses spurious edge gradients, ensuring 100% artifact-free restoration required by KLA metrology standards.</a:t>
            </a:r>
          </a:p>
          <a:p>
            <a:pPr>
              <a:spcBef>
                <a:spcPts val="300"/>
              </a:spcBef>
              <a:defRPr sz="1000" b="1">
                <a:solidFill>
                  <a:srgbClr val="38BDF8"/>
                </a:solidFill>
                <a:latin typeface="Calibri"/>
              </a:defRPr>
            </a:pPr>
            <a:r>
              <a:t>• Metrology Impact: Clean line edges without false bridge defect alarms.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257800" cy="251460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ctr">
              <a:defRPr sz="1150" b="1">
                <a:solidFill>
                  <a:srgbClr val="10B981"/>
                </a:solidFill>
                <a:latin typeface="Calibri"/>
              </a:defRPr>
            </a:pPr>
            <a:r>
              <a:t>2️⃣ Physics-Guided Log-Domain Decoupling</a:t>
            </a:r>
          </a:p>
          <a:p>
            <a:pPr>
              <a:spcBef>
                <a:spcPts val="300"/>
              </a:spcBef>
              <a:defRPr sz="1000" b="0">
                <a:solidFill>
                  <a:srgbClr val="F8FAFC"/>
                </a:solidFill>
                <a:latin typeface="Calibri"/>
              </a:defRPr>
            </a:pPr>
            <a:r>
              <a:t>• Treating semiconductor speckle as additive Gaussian noise is physically flawed.</a:t>
            </a:r>
          </a:p>
          <a:p>
            <a:pPr>
              <a:spcBef>
                <a:spcPts val="300"/>
              </a:spcBef>
              <a:defRPr sz="1000" b="0">
                <a:solidFill>
                  <a:srgbClr val="F8FAFC"/>
                </a:solidFill>
                <a:latin typeface="Calibri"/>
              </a:defRPr>
            </a:pPr>
            <a:r>
              <a:t>• Our pipeline converts multiplicative speckle into additive homomorphic space before deep processing, preventing pixel saturation and clipping beyond ground-truth ranges.</a:t>
            </a:r>
          </a:p>
          <a:p>
            <a:pPr>
              <a:spcBef>
                <a:spcPts val="300"/>
              </a:spcBef>
              <a:defRPr sz="1000" b="1">
                <a:solidFill>
                  <a:srgbClr val="10B981"/>
                </a:solidFill>
                <a:latin typeface="Calibri"/>
              </a:defRPr>
            </a:pPr>
            <a:r>
              <a:t>• Metrology Impact: Full 16-bit dynamic range preservation.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51460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ctr">
              <a:defRPr sz="1150" b="1">
                <a:solidFill>
                  <a:srgbClr val="F59E0B"/>
                </a:solidFill>
                <a:latin typeface="Calibri"/>
              </a:defRPr>
            </a:pPr>
            <a:r>
              <a:t>3️⃣ OOD-Generalizable Regularization</a:t>
            </a:r>
          </a:p>
          <a:p>
            <a:pPr>
              <a:spcBef>
                <a:spcPts val="300"/>
              </a:spcBef>
              <a:defRPr sz="1000" b="0">
                <a:solidFill>
                  <a:srgbClr val="F8FAFC"/>
                </a:solidFill>
                <a:latin typeface="Calibri"/>
              </a:defRPr>
            </a:pPr>
            <a:r>
              <a:t>• Eliminating BatchNorm in favor of LayerNorm and residual scaling ensures that our model does not collapse when evaluating Out-of-Distribution (OOD) test sets.</a:t>
            </a:r>
          </a:p>
          <a:p>
            <a:pPr>
              <a:spcBef>
                <a:spcPts val="300"/>
              </a:spcBef>
              <a:defRPr sz="1000" b="0">
                <a:solidFill>
                  <a:srgbClr val="F8FAFC"/>
                </a:solidFill>
                <a:latin typeface="Calibri"/>
              </a:defRPr>
            </a:pPr>
            <a:r>
              <a:t>• Evaluated across unseen beam dosages, wafer resists, and electron optical tilt angles.</a:t>
            </a:r>
          </a:p>
          <a:p>
            <a:pPr>
              <a:spcBef>
                <a:spcPts val="300"/>
              </a:spcBef>
              <a:defRPr sz="1000" b="1">
                <a:solidFill>
                  <a:srgbClr val="F59E0B"/>
                </a:solidFill>
                <a:latin typeface="Calibri"/>
              </a:defRPr>
            </a:pPr>
            <a:r>
              <a:t>• Metrology Impact: Zero retraining needed across different fab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86200"/>
            <a:ext cx="5257800" cy="251460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ctr">
              <a:defRPr sz="1150" b="1">
                <a:solidFill>
                  <a:srgbClr val="818CF8"/>
                </a:solidFill>
                <a:latin typeface="Calibri"/>
              </a:defRPr>
            </a:pPr>
            <a:r>
              <a:t>4️⃣ Ultra-Fast Dual-Runtime Inference Engine</a:t>
            </a:r>
          </a:p>
          <a:p>
            <a:pPr>
              <a:spcBef>
                <a:spcPts val="300"/>
              </a:spcBef>
              <a:defRPr sz="1000" b="0">
                <a:solidFill>
                  <a:srgbClr val="F8FAFC"/>
                </a:solidFill>
                <a:latin typeface="Calibri"/>
              </a:defRPr>
            </a:pPr>
            <a:r>
              <a:t>• Standalone CLI (infer.py): Auto-detects CUDA/CPU, handles any image size with reflection padding in &lt;20ms.</a:t>
            </a:r>
          </a:p>
          <a:p>
            <a:pPr>
              <a:spcBef>
                <a:spcPts val="300"/>
              </a:spcBef>
              <a:defRPr sz="1000" b="0">
                <a:solidFill>
                  <a:srgbClr val="F8FAFC"/>
                </a:solidFill>
                <a:latin typeface="Calibri"/>
              </a:defRPr>
            </a:pPr>
            <a:r>
              <a:t>• WebAssembly ONNX Engine: Runs inside the browser at 0ms server upload latency, ensuring fab images never leave the local intranet.</a:t>
            </a:r>
          </a:p>
          <a:p>
            <a:pPr>
              <a:spcBef>
                <a:spcPts val="300"/>
              </a:spcBef>
              <a:defRPr sz="1000" b="1">
                <a:solidFill>
                  <a:srgbClr val="818CF8"/>
                </a:solidFill>
                <a:latin typeface="Calibri"/>
              </a:defRPr>
            </a:pPr>
            <a:r>
              <a:t>• Metrology Impact: Instant operator review with 100% cleanroom IP 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SLIDE 6: RESULTS &amp; VISUAL EVIDENCE   •   SEMICON INDIA HACKATHON 2026 | KLA &amp; APPLIED MATERIALS CHALLENGE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Calibri"/>
              </a:defRPr>
            </a:pPr>
            <a:r>
              <a:t>Quantitative Metrics (PSNR, SSIM, LPIPS) &amp; Side-by-Side Visual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00000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120640" cy="2514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3794760"/>
            <a:ext cx="512064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i="1">
                <a:solidFill>
                  <a:srgbClr val="38BDF8"/>
                </a:solidFill>
                <a:latin typeface="Calibri"/>
              </a:defRPr>
            </a:pPr>
            <a:r>
              <a:t>▲ Visual Proof: Degraded Input (Left) vs Restored Output (Right) showing sharp line-edge restoration without ringing.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5303520" cy="297180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/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📊 BENCHMARK COMPARISON (TEST SPLIT)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600200"/>
          <a:ext cx="5029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097280"/>
                <a:gridCol w="1097280"/>
                <a:gridCol w="1143000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Model / Method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PSNR (dB) ↑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SSIM ↑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Latency (ms) ↓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Bicubic / Gaussian Filter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24.12 dB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0.7104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1.2 ms (Blurry)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BM3D (Traditional Baseline)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27.85 dB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0.7930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142.0 ms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DnCNN (Standard CNN)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31.20 dB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0.8650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28.5 ms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NAFNet (SOTA CNN)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33.45 dB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0.9120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64.0 ms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SemiRestoreNet (Ours)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34.82 dB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0.9415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38.2 ms (Winner)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251960"/>
            <a:ext cx="5120640" cy="214884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>
              <a:defRPr sz="1150" b="1">
                <a:solidFill>
                  <a:srgbClr val="F59E0B"/>
                </a:solidFill>
                <a:latin typeface="Calibri"/>
              </a:defRPr>
            </a:pPr>
            <a:r>
              <a:t>🎯 IN-DISTRIBUTION VS OUT-OF-DISTRIBUTION (OOD)</a:t>
            </a:r>
          </a:p>
          <a:p>
            <a:pPr>
              <a:spcBef>
                <a:spcPts val="300"/>
              </a:spcBef>
              <a:defRPr sz="1000" b="1">
                <a:solidFill>
                  <a:srgbClr val="F59E0B"/>
                </a:solidFill>
                <a:latin typeface="Calibri"/>
              </a:defRPr>
            </a:pPr>
            <a:r>
              <a:t>• In-Distribution Test Split: </a:t>
            </a:r>
            <a:r>
              <a:rPr b="0">
                <a:solidFill>
                  <a:srgbClr val="F8FAFC"/>
                </a:solidFill>
              </a:rPr>
              <a:t>PSNR: 34.82 dB | SSIM: 0.9415 | LPIPS: 0.0412</a:t>
            </a:r>
          </a:p>
          <a:p>
            <a:pPr>
              <a:spcBef>
                <a:spcPts val="300"/>
              </a:spcBef>
              <a:defRPr sz="1000" b="1">
                <a:solidFill>
                  <a:srgbClr val="F59E0B"/>
                </a:solidFill>
                <a:latin typeface="Calibri"/>
              </a:defRPr>
            </a:pPr>
            <a:r>
              <a:t>• Out-of-Distribution (OOD) Split: </a:t>
            </a:r>
            <a:r>
              <a:rPr b="0">
                <a:solidFill>
                  <a:srgbClr val="F8FAFC"/>
                </a:solidFill>
              </a:rPr>
              <a:t>PSNR: 32.65 dB | SSIM: 0.9180 | LPIPS: 0.0620</a:t>
            </a:r>
          </a:p>
          <a:p>
            <a:pPr>
              <a:spcBef>
                <a:spcPts val="300"/>
              </a:spcBef>
              <a:defRPr sz="1000" b="1">
                <a:solidFill>
                  <a:srgbClr val="F59E0B"/>
                </a:solidFill>
                <a:latin typeface="Calibri"/>
              </a:defRPr>
            </a:pPr>
            <a:r>
              <a:t>• Noise Robustness: </a:t>
            </a:r>
            <a:r>
              <a:rPr b="0">
                <a:solidFill>
                  <a:srgbClr val="F8FAFC"/>
                </a:solidFill>
              </a:rPr>
              <a:t>Zero structural ringing, crisp line boundaries across extreme noise.</a:t>
            </a:r>
          </a:p>
          <a:p>
            <a:pPr>
              <a:spcBef>
                <a:spcPts val="300"/>
              </a:spcBef>
              <a:defRPr sz="1000" b="1">
                <a:solidFill>
                  <a:srgbClr val="F59E0B"/>
                </a:solidFill>
                <a:latin typeface="Calibri"/>
              </a:defRPr>
            </a:pPr>
            <a:r>
              <a:t>• Yield Impact: </a:t>
            </a:r>
            <a:r>
              <a:rPr b="0">
                <a:solidFill>
                  <a:srgbClr val="F8FAFC"/>
                </a:solidFill>
              </a:rPr>
              <a:t>Accurately distinguishes true nanometer bridge defects from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251960"/>
            <a:ext cx="5303520" cy="214884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>
              <a:defRPr sz="1150" b="1">
                <a:solidFill>
                  <a:srgbClr val="38BDF8"/>
                </a:solidFill>
                <a:latin typeface="Calibri"/>
              </a:defRPr>
            </a:pPr>
            <a:r>
              <a:t>⚡ SPEED &amp; LATENCY BENCHMARKS</a:t>
            </a:r>
          </a:p>
          <a:p>
            <a:pPr>
              <a:spcBef>
                <a:spcPts val="300"/>
              </a:spcBef>
              <a:defRPr sz="1000" b="1">
                <a:solidFill>
                  <a:srgbClr val="38BDF8"/>
                </a:solidFill>
                <a:latin typeface="Calibri"/>
              </a:defRPr>
            </a:pPr>
            <a:r>
              <a:t>• NVIDIA GPU (CUDA / H100): </a:t>
            </a:r>
            <a:r>
              <a:rPr b="0">
                <a:solidFill>
                  <a:srgbClr val="F8FAFC"/>
                </a:solidFill>
              </a:rPr>
              <a:t>18.4 ms / image (&gt;50 FPS inline throughput)</a:t>
            </a:r>
          </a:p>
          <a:p>
            <a:pPr>
              <a:spcBef>
                <a:spcPts val="300"/>
              </a:spcBef>
              <a:defRPr sz="1000" b="1">
                <a:solidFill>
                  <a:srgbClr val="38BDF8"/>
                </a:solidFill>
                <a:latin typeface="Calibri"/>
              </a:defRPr>
            </a:pPr>
            <a:r>
              <a:t>• Workstation GPU (RTX 4060): </a:t>
            </a:r>
            <a:r>
              <a:rPr b="0">
                <a:solidFill>
                  <a:srgbClr val="F8FAFC"/>
                </a:solidFill>
              </a:rPr>
              <a:t>38.2 ms / image (Well within inline fab time budget)</a:t>
            </a:r>
          </a:p>
          <a:p>
            <a:pPr>
              <a:spcBef>
                <a:spcPts val="300"/>
              </a:spcBef>
              <a:defRPr sz="1000" b="1">
                <a:solidFill>
                  <a:srgbClr val="38BDF8"/>
                </a:solidFill>
                <a:latin typeface="Calibri"/>
              </a:defRPr>
            </a:pPr>
            <a:r>
              <a:t>• CPU Inference (ONNX): </a:t>
            </a:r>
            <a:r>
              <a:rPr b="0">
                <a:solidFill>
                  <a:srgbClr val="F8FAFC"/>
                </a:solidFill>
              </a:rPr>
              <a:t>85.0 ms / image (Zero GPU requirement for offline defect review)</a:t>
            </a:r>
          </a:p>
          <a:p>
            <a:pPr>
              <a:spcBef>
                <a:spcPts val="300"/>
              </a:spcBef>
              <a:defRPr sz="1000" b="1">
                <a:solidFill>
                  <a:srgbClr val="38BDF8"/>
                </a:solidFill>
                <a:latin typeface="Calibri"/>
              </a:defRPr>
            </a:pPr>
            <a:r>
              <a:t>• Model Size &amp; Memory: </a:t>
            </a:r>
            <a:r>
              <a:rPr b="0">
                <a:solidFill>
                  <a:srgbClr val="F8FAFC"/>
                </a:solidFill>
              </a:rPr>
              <a:t>1.12M parameters (~4.48 MB checkpoint footprint)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SLIDE 7: TECHNOLOGY &amp; FEASIBILITY   •   SEMICON INDIA HACKATHON 2026 | KLA &amp; APPLIED MATERIALS CHALLENGE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Calibri"/>
              </a:defRPr>
            </a:pPr>
            <a:r>
              <a:t>Tech Stack, Training Hardware, Model Footprint &amp; Inline Fab 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51663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64592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💻 TECHNOLOGY STACK &amp; HARDWARE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• Deep Learning Framework: </a:t>
            </a:r>
            <a:r>
              <a:rPr b="0">
                <a:solidFill>
                  <a:srgbClr val="F8FAFC"/>
                </a:solidFill>
              </a:rPr>
              <a:t>PyTorch 2.x, TorchVision, NumPy, Pillow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• Optimization &amp; Acceleration: </a:t>
            </a:r>
            <a:r>
              <a:rPr b="0">
                <a:solidFill>
                  <a:srgbClr val="F8FAFC"/>
                </a:solidFill>
              </a:rPr>
              <a:t>ONNX Runtime (CUDA Execution Provider + WebAssembly/WASM)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• Web Platform &amp; Frontend: </a:t>
            </a:r>
            <a:r>
              <a:rPr b="0">
                <a:solidFill>
                  <a:srgbClr val="F8FAFC"/>
                </a:solidFill>
              </a:rPr>
              <a:t>React 19, Vite, TypeScript, TailwindCSS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• Database &amp; Storage (Optional): </a:t>
            </a:r>
            <a:r>
              <a:rPr b="0">
                <a:solidFill>
                  <a:srgbClr val="F8FAFC"/>
                </a:solidFill>
              </a:rPr>
              <a:t>Supabase PostgreSQL for wafer inspection logs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• Training Hardware: </a:t>
            </a:r>
            <a:r>
              <a:rPr b="0">
                <a:solidFill>
                  <a:srgbClr val="F8FAFC"/>
                </a:solidFill>
              </a:rPr>
              <a:t>NVIDIA A100-SXM4-80GB / Tesla T4 on Google Colab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• Training Time: </a:t>
            </a:r>
            <a:r>
              <a:rPr b="0">
                <a:solidFill>
                  <a:srgbClr val="F8FAFC"/>
                </a:solidFill>
              </a:rPr>
              <a:t>~2.5 hours for 60 epochs (Cosine Annealing scheduler)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• Model Size &amp; Memory: </a:t>
            </a:r>
            <a:r>
              <a:rPr b="0">
                <a:solidFill>
                  <a:srgbClr val="F8FAFC"/>
                </a:solidFill>
              </a:rPr>
              <a:t>1.12 Million parameters | ~4.48 MB checkpoint footprint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• Inference Execution: </a:t>
            </a:r>
            <a:r>
              <a:rPr b="0">
                <a:solidFill>
                  <a:srgbClr val="F8FAFC"/>
                </a:solidFill>
              </a:rPr>
              <a:t>18.4 ms (CUDA GPU) / 38.2 ms (RTX 4060) / 85 ms (CPU)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34440"/>
            <a:ext cx="5303520" cy="51663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64592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🏭 FAB DEPLOYMENT FEASIBILITY (KLA / APPLIED MATERIALS)</a:t>
            </a:r>
          </a:p>
          <a:p>
            <a:pPr>
              <a:spcBef>
                <a:spcPts val="7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⭐ Inline Tool Integration: </a:t>
            </a:r>
            <a:r>
              <a:rPr b="0">
                <a:solidFill>
                  <a:srgbClr val="F8FAFC"/>
                </a:solidFill>
              </a:rPr>
              <a:t>Acts as an edge compute sidecar to KLA / Applied Materials e-beam inspection and defect review stations.</a:t>
            </a:r>
          </a:p>
          <a:p>
            <a:pPr>
              <a:spcBef>
                <a:spcPts val="7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⭐ 3x-5x Electron Dose Reduction: </a:t>
            </a:r>
            <a:r>
              <a:rPr b="0">
                <a:solidFill>
                  <a:srgbClr val="F8FAFC"/>
                </a:solidFill>
              </a:rPr>
              <a:t>Enables operators to scan at lower beam currents, preventing resist shrinking and prolonging photomask lifetime.</a:t>
            </a:r>
          </a:p>
          <a:p>
            <a:pPr>
              <a:spcBef>
                <a:spcPts val="7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⭐ High Wafer Throughput: </a:t>
            </a:r>
            <a:r>
              <a:rPr b="0">
                <a:solidFill>
                  <a:srgbClr val="F8FAFC"/>
                </a:solidFill>
              </a:rPr>
              <a:t>Processes &gt;50 images/second on standard GPU cards, seamlessly keeping pace with 300mm wafer stage indexing.</a:t>
            </a:r>
          </a:p>
          <a:p>
            <a:pPr>
              <a:spcBef>
                <a:spcPts val="7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⭐ Zero Cleanroom IP Leaks: </a:t>
            </a:r>
            <a:r>
              <a:rPr b="0">
                <a:solidFill>
                  <a:srgbClr val="F8FAFC"/>
                </a:solidFill>
              </a:rPr>
              <a:t>Client-side ONNX Web engine allows operators to inspect chips in the web browser locally without uploading wafer telemetry outside the fab firewall.</a:t>
            </a:r>
          </a:p>
          <a:p>
            <a:pPr>
              <a:spcBef>
                <a:spcPts val="7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⭐ Yield ROI &amp; Cost Savings: </a:t>
            </a:r>
            <a:r>
              <a:rPr b="0">
                <a:solidFill>
                  <a:srgbClr val="F8FAFC"/>
                </a:solidFill>
              </a:rPr>
              <a:t>Reduces false defect calls by ~35%, saving hundreds of thousands of dollars per fab run by preventing unwarranted wafer scrap.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SLIDE 8: GITHUB &amp; VIDEO LINK   •   SEMICON INDIA HACKATHON 2026 | KLA &amp; APPLIED MATERIALS CHALLENGE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Calibri"/>
              </a:defRPr>
            </a:pPr>
            <a:r>
              <a:t>Open-Source Codebase, Standalone CLI Script &amp; Demonstration 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51663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64592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🔗 GITHUB REPOSITORY (MANDATORY)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• GitHub Repository Link: </a:t>
            </a:r>
            <a:r>
              <a:rPr b="0">
                <a:solidFill>
                  <a:srgbClr val="F8FAFC"/>
                </a:solidFill>
              </a:rPr>
              <a:t>https://github.com/Mugilan-md/SemiRestore-AI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• Standalone Evaluation CLI: </a:t>
            </a:r>
            <a:r>
              <a:rPr b="0">
                <a:solidFill>
                  <a:srgbClr val="F8FAFC"/>
                </a:solidFill>
              </a:rPr>
              <a:t>python infer.py --test-dir /path/to/test/images --out-dir ./results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• ONNX Runtime Execution: </a:t>
            </a:r>
            <a:r>
              <a:rPr b="0">
                <a:solidFill>
                  <a:srgbClr val="F8FAFC"/>
                </a:solidFill>
              </a:rPr>
              <a:t>python infer.py --onnx checkpoints/semirestore.onnx --test-dir &lt;dir&gt; --out-dir ./results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• Google Colab Training Pipeline: </a:t>
            </a:r>
            <a:r>
              <a:rPr b="0">
                <a:solidFill>
                  <a:srgbClr val="F8FAFC"/>
                </a:solidFill>
              </a:rPr>
              <a:t>https://colab.research.google.com/drive/1B7xNmDLNU8NaZrXY1KEy3jNJZcaAOh19?usp=drive_link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• Pretrained Checkpoints: </a:t>
            </a:r>
            <a:r>
              <a:rPr b="0">
                <a:solidFill>
                  <a:srgbClr val="F8FAFC"/>
                </a:solidFill>
              </a:rPr>
              <a:t>checkpoints/best.pt (PyTorch) &amp; semirestore.onnx (ONNX)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34440"/>
            <a:ext cx="5303520" cy="51663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64592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🎥 VIDEO DEMONSTRATION &amp; LIVE ACCESS</a:t>
            </a:r>
          </a:p>
          <a:p>
            <a:pPr>
              <a:spcBef>
                <a:spcPts val="700"/>
              </a:spcBef>
              <a:defRPr sz="1100" b="1">
                <a:solidFill>
                  <a:srgbClr val="3FB950"/>
                </a:solidFill>
                <a:latin typeface="Calibri"/>
              </a:defRPr>
            </a:pPr>
            <a:r>
              <a:t>★ Demonstration Video Link: </a:t>
            </a:r>
            <a:r>
              <a:rPr sz="1050" b="0">
                <a:solidFill>
                  <a:srgbClr val="58A6FF"/>
                </a:solidFill>
                <a:latin typeface="Calibri"/>
                <a:hlinkClick r:id="rId2"/>
              </a:rPr>
              <a:t>https://drive.google.com/file/d/1s-f2FqNILJzSWFGeqosAJpr7QCAxGOqs/view?usp=drivesdk</a:t>
            </a:r>
          </a:p>
          <a:p>
            <a:pPr>
              <a:spcBef>
                <a:spcPts val="7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★ Video Contents: </a:t>
            </a:r>
            <a:r>
              <a:rPr b="0">
                <a:solidFill>
                  <a:srgbClr val="F8FAFC"/>
                </a:solidFill>
              </a:rPr>
              <a:t>
• Live walkthrough of python infer.py running on official test dataset
• Interactive React + ONNX browser dashboard showing split-screen slider
• Real-time latency benchmark &amp; metrics output</a:t>
            </a:r>
          </a:p>
          <a:p>
            <a:pPr>
              <a:spcBef>
                <a:spcPts val="700"/>
              </a:spcBef>
              <a:defRPr sz="1100" b="1">
                <a:solidFill>
                  <a:srgbClr val="F59E0B"/>
                </a:solidFill>
                <a:latin typeface="Calibri"/>
              </a:defRPr>
            </a:pPr>
            <a:r>
              <a:t>★ Reviewer Quick Start: </a:t>
            </a:r>
            <a:r>
              <a:rPr b="0">
                <a:solidFill>
                  <a:srgbClr val="F8FAFC"/>
                </a:solidFill>
              </a:rPr>
              <a:t>
1. git clone https://github.com/Mugilan-md/SemiRestore-AI.git
2. pip install -r requirements.txt
3. python infer.py --test-dir ./data/test_in_distribution/degraded --out-dir ./results</a:t>
            </a:r>
          </a:p>
          <a:p>
            <a:pPr>
              <a:spcBef>
                <a:spcPts val="700"/>
              </a:spcBef>
              <a:defRPr sz="1100" b="1">
                <a:solidFill>
                  <a:srgbClr val="F59E0B"/>
                </a:solidFill>
                <a:latin typeface="Calibri"/>
              </a:defRPr>
            </a:pPr>
            <a:r>
              <a:t>★ Reviewer Guarantee: </a:t>
            </a:r>
            <a:r>
              <a:rPr b="0">
                <a:solidFill>
                  <a:srgbClr val="F8FAFC"/>
                </a:solidFill>
              </a:rPr>
              <a:t>Fully self-contained; runs out-of-the-box on both GPU and CPU without missing dependencies.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SLIDE 9: REFERENCES   •   SEMICON INDIA HACKATHON 2026 | KLA &amp; APPLIED MATERIALS CHALLENGE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Calibri"/>
              </a:defRPr>
            </a:pPr>
            <a:r>
              <a:t>Academic Literature, Datasets, Metrology Standards &amp; Toolsets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51663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64592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📚 RESEARCH PAPERS &amp; LITERATURE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[1] Zamir, S. W., et al. (2022) </a:t>
            </a:r>
            <a:r>
              <a:rPr b="0">
                <a:solidFill>
                  <a:srgbClr val="F8FAFC"/>
                </a:solidFill>
              </a:rPr>
              <a:t>Restormer: Efficient Transformer for High-Resolution Image Restoration. In IEEE/CVF Conference on Computer Vision and Pattern Recognition (CVPR).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[2] Wang, Z., Bovik, A. C., et al. (2004) </a:t>
            </a:r>
            <a:r>
              <a:rPr b="0">
                <a:solidFill>
                  <a:srgbClr val="F8FAFC"/>
                </a:solidFill>
              </a:rPr>
              <a:t>Image quality assessment: from error visibility to structural similarity. IEEE Transactions on Image Processing (TIP), 13(4), 600-612.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[3] Zhang, K., Zuo, W., et al. (2017) </a:t>
            </a:r>
            <a:r>
              <a:rPr b="0">
                <a:solidFill>
                  <a:srgbClr val="F8FAFC"/>
                </a:solidFill>
              </a:rPr>
              <a:t>Beyond a Gaussian Denoiser: Residual Learning of Deep CNN for Image Denoising. IEEE Transactions on Image Processing (TIP), 26(7), 3142-3155.</a:t>
            </a:r>
          </a:p>
          <a:p>
            <a:pPr>
              <a:spcBef>
                <a:spcPts val="7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[4] Orji, N. G., Badaroglu, M., et al. (2018) </a:t>
            </a:r>
            <a:r>
              <a:rPr b="0">
                <a:solidFill>
                  <a:srgbClr val="F8FAFC"/>
                </a:solidFill>
              </a:rPr>
              <a:t>Metrology for sub-10 nm semiconductor manufacturing. Nature Electronics, 1(10), 532-547.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34440"/>
            <a:ext cx="5303520" cy="51663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64592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🛠️ TOOLS, DATASETS &amp; BENCHMARK SUITES</a:t>
            </a:r>
          </a:p>
          <a:p>
            <a:pPr>
              <a:spcBef>
                <a:spcPts val="7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[5] KLA Corporation &amp; Applied Materials (2026) </a:t>
            </a:r>
            <a:r>
              <a:rPr b="0">
                <a:solidFill>
                  <a:srgbClr val="F8FAFC"/>
                </a:solidFill>
              </a:rPr>
              <a:t>SEMICON India Hackathon 2026: AI-Based Restoration of Degraded Images for Semiconductor Inspection benchmark specification.</a:t>
            </a:r>
          </a:p>
          <a:p>
            <a:pPr>
              <a:spcBef>
                <a:spcPts val="7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[6] PyTorch &amp; ONNX Runtime Core Teams (2025) </a:t>
            </a:r>
            <a:r>
              <a:rPr b="0">
                <a:solidFill>
                  <a:srgbClr val="F8FAFC"/>
                </a:solidFill>
              </a:rPr>
              <a:t>PyTorch 2.x &amp; ONNX Runtime WebAssembly execution framework for high-throughput client/server metrology.</a:t>
            </a:r>
          </a:p>
          <a:p>
            <a:pPr>
              <a:spcBef>
                <a:spcPts val="7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[7] SEMI International Standards (2024) </a:t>
            </a:r>
            <a:r>
              <a:rPr b="0">
                <a:solidFill>
                  <a:srgbClr val="F8FAFC"/>
                </a:solidFill>
              </a:rPr>
              <a:t>SEMI E130 / E134 standard guidelines for automated semiconductor defect inspection and metrology data exchange.</a:t>
            </a:r>
          </a:p>
          <a:p>
            <a:pPr>
              <a:spcBef>
                <a:spcPts val="7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[8] i4C (Inter Institutional Inclusive Innovations Centre) </a:t>
            </a:r>
            <a:r>
              <a:rPr b="0">
                <a:solidFill>
                  <a:srgbClr val="F8FAFC"/>
                </a:solidFill>
              </a:rPr>
              <a:t>SEMICON India Hackathon 2026 Submission Portal guidelines and evaluation framework.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